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7B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868680"/>
            <a:ext cx="1051560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2286000"/>
            <a:ext cx="9144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이음</a:t>
            </a:r>
            <a:r>
              <a:rPr sz="5800" b="1" i="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  IEUM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611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돈이 사람 손을 거치지 않는, 한국형 온체인 에스크로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160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전세 보증금 · 이사 잔금 · 계모임을 </a:t>
            </a:r>
            <a:r>
              <a:rPr sz="170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단 한 트랜잭션</a:t>
            </a:r>
            <a:r>
              <a:rPr sz="17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으로 정산합니다.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074920"/>
            <a:ext cx="10509199" cy="18288"/>
          </a:xfrm>
          <a:prstGeom prst="rect">
            <a:avLst/>
          </a:prstGeom>
          <a:solidFill>
            <a:srgbClr val="2C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257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GIWA SEPOLIA</a:t>
            </a:r>
            <a:r>
              <a:rPr sz="1250" b="1" i="0" spc="20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      UPBIT × GIWA · GASOK BUILDER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5647" y="52303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 spc="4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ieum-protocol.vercel.app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8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이음 IEUM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243584"/>
            <a:ext cx="566928" cy="25603"/>
          </a:xfrm>
          <a:prstGeom prst="rect">
            <a:avLst/>
          </a:prstGeom>
          <a:solidFill>
            <a:srgbClr val="E7B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1647" y="5669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 spc="12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02</a:t>
            </a:r>
            <a:r>
              <a:rPr sz="1200" b="0" i="0" spc="12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6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목돈의 길을, 잇다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2847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4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ieum-protocol.vercel.app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554480"/>
            <a:ext cx="1050919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42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한국인의 목돈은 </a:t>
            </a:r>
            <a:r>
              <a:rPr sz="4200" b="1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'사람 손'</a:t>
            </a:r>
            <a:r>
              <a:rPr sz="42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을</a:t>
            </a:r>
          </a:p>
          <a:p>
            <a:pPr>
              <a:lnSpc>
                <a:spcPct val="106000"/>
              </a:lnSpc>
            </a:pPr>
            <a:r>
              <a:rPr sz="42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거칠 때 터진다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246120"/>
            <a:ext cx="10509199" cy="749808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246120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4248" y="3246120"/>
            <a:ext cx="2926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전세금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3246120"/>
            <a:ext cx="38404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집주인을 거치며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8687" y="3246120"/>
            <a:ext cx="22860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 i="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→  </a:t>
            </a:r>
            <a:r>
              <a:rPr sz="1900" b="1" i="0">
                <a:solidFill>
                  <a:srgbClr val="E3B341"/>
                </a:solidFill>
                <a:latin typeface="Segoe UI"/>
                <a:ea typeface="Malgun Gothic"/>
                <a:cs typeface="Segoe UI"/>
              </a:rPr>
              <a:t>전세사기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069080"/>
            <a:ext cx="10509199" cy="749808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4069080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4248" y="4069080"/>
            <a:ext cx="2926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이사 잔금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069080"/>
            <a:ext cx="38404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날짜 하루만 어긋나도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98687" y="4069080"/>
            <a:ext cx="22860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 i="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→  </a:t>
            </a:r>
            <a:r>
              <a:rPr sz="1900" b="1" i="0">
                <a:solidFill>
                  <a:srgbClr val="E3B341"/>
                </a:solidFill>
                <a:latin typeface="Segoe UI"/>
                <a:ea typeface="Malgun Gothic"/>
                <a:cs typeface="Segoe UI"/>
              </a:rPr>
              <a:t>거래 파탄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892040"/>
            <a:ext cx="10509199" cy="749808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61288" y="4892040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4248" y="4892040"/>
            <a:ext cx="2926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곗돈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4892040"/>
            <a:ext cx="38404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계주 먹튀로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687" y="4892040"/>
            <a:ext cx="22860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 i="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→  </a:t>
            </a:r>
            <a:r>
              <a:rPr sz="1900" b="1" i="0">
                <a:solidFill>
                  <a:srgbClr val="E3B341"/>
                </a:solidFill>
                <a:latin typeface="Segoe UI"/>
                <a:ea typeface="Malgun Gothic"/>
                <a:cs typeface="Segoe UI"/>
              </a:rPr>
              <a:t>증발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5833872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셋 다 원인은 하나 — </a:t>
            </a:r>
            <a:r>
              <a:rPr sz="170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목돈이 중개자의 손에 머무는 시간.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8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이음 IEUM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243584"/>
            <a:ext cx="566928" cy="25603"/>
          </a:xfrm>
          <a:prstGeom prst="rect">
            <a:avLst/>
          </a:prstGeom>
          <a:solidFill>
            <a:srgbClr val="E7B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1647" y="5669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 spc="12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03</a:t>
            </a:r>
            <a:r>
              <a:rPr sz="1200" b="0" i="0" spc="12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6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목돈의 길을, 잇다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2847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4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ieum-protocol.vercel.app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554480"/>
            <a:ext cx="1050919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42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중개자를 </a:t>
            </a:r>
            <a:r>
              <a:rPr sz="4200" b="1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스마트 컨트랙트</a:t>
            </a:r>
            <a:r>
              <a:rPr sz="42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로</a:t>
            </a:r>
          </a:p>
          <a:p>
            <a:pPr>
              <a:lnSpc>
                <a:spcPct val="106000"/>
              </a:lnSpc>
            </a:pPr>
            <a:r>
              <a:rPr sz="42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대체한다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337560"/>
            <a:ext cx="1050919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신규 세입자 전세금을 </a:t>
            </a:r>
            <a:r>
              <a:rPr sz="200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온체인에 락</a:t>
            </a:r>
            <a:r>
              <a:rPr sz="2000" b="0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한 뒤, 정산일에 단 한 번의 트랜잭션으로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2000" b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기존 세입자 보증금 반환 + 집주인 잔금 지급을 </a:t>
            </a:r>
            <a:r>
              <a:rPr sz="2000" b="1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동시 확정</a:t>
            </a:r>
            <a:r>
              <a:rPr sz="2000" b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4709160"/>
            <a:ext cx="10509199" cy="1280160"/>
          </a:xfrm>
          <a:prstGeom prst="roundRect">
            <a:avLst>
              <a:gd name="adj" fmla="val 6000"/>
            </a:avLst>
          </a:prstGeom>
          <a:solidFill>
            <a:srgbClr val="101013"/>
          </a:solidFill>
          <a:ln w="12700">
            <a:solidFill>
              <a:srgbClr val="E7B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5847" y="4965192"/>
            <a:ext cx="10972" cy="768095"/>
          </a:xfrm>
          <a:prstGeom prst="rect">
            <a:avLst/>
          </a:prstGeom>
          <a:solidFill>
            <a:srgbClr val="2C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928616"/>
            <a:ext cx="43401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돈이 머무는 시간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5257800"/>
            <a:ext cx="4340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= 0초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8767" y="4928616"/>
            <a:ext cx="43401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한쪽만 지급되는 중간 상태가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8767" y="5276088"/>
            <a:ext cx="43401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원천적으로 불가능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8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이음 IEUM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243584"/>
            <a:ext cx="566928" cy="25603"/>
          </a:xfrm>
          <a:prstGeom prst="rect">
            <a:avLst/>
          </a:prstGeom>
          <a:solidFill>
            <a:srgbClr val="E7B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1647" y="5669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 spc="12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04</a:t>
            </a:r>
            <a:r>
              <a:rPr sz="1200" b="0" i="0" spc="12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6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목돈의 길을, 잇다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2847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4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ieum-protocol.vercel.app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463040"/>
            <a:ext cx="1050919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8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원자적 연쇄 정산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240280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정산일 이후 누구나 </a:t>
            </a:r>
            <a:r>
              <a:rPr sz="150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settle()</a:t>
            </a:r>
            <a:r>
              <a:rPr sz="15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 한 번 → 세 정산이 같은 트랜잭션에서 동시 확정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291840"/>
            <a:ext cx="3044952" cy="1371600"/>
          </a:xfrm>
          <a:prstGeom prst="roundRect">
            <a:avLst>
              <a:gd name="adj" fmla="val 8000"/>
            </a:avLst>
          </a:prstGeom>
          <a:solidFill>
            <a:srgbClr val="101013"/>
          </a:solidFill>
          <a:ln w="12700">
            <a:solidFill>
              <a:srgbClr val="E7B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547872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JeonseEscrow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950208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settle() · 1 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242816"/>
            <a:ext cx="3044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중간에 돈 쥐는 사람 없음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788920"/>
            <a:ext cx="2926080" cy="841248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93522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신규 세입자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6440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전세금을 락한다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160520"/>
            <a:ext cx="2926080" cy="841248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30682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이음 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63600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날짜 공백 · 역전세 선지급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24367" y="2697480"/>
            <a:ext cx="2926080" cy="841248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0399" y="284378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기존 세입자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0399" y="317296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보증금 100% 반환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24367" y="4251960"/>
            <a:ext cx="2926080" cy="841248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0399" y="439826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집주인 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0399" y="472744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차액만 수령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767328" y="3200400"/>
            <a:ext cx="804672" cy="411480"/>
          </a:xfrm>
          <a:prstGeom prst="line">
            <a:avLst/>
          </a:prstGeom>
          <a:ln w="20320">
            <a:solidFill>
              <a:srgbClr val="E7B7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767328" y="4160520"/>
            <a:ext cx="804672" cy="320040"/>
          </a:xfrm>
          <a:prstGeom prst="line">
            <a:avLst/>
          </a:prstGeom>
          <a:ln w="20320">
            <a:solidFill>
              <a:srgbClr val="E7B7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616952" y="3200400"/>
            <a:ext cx="807415" cy="411480"/>
          </a:xfrm>
          <a:prstGeom prst="line">
            <a:avLst/>
          </a:prstGeom>
          <a:ln w="20320">
            <a:solidFill>
              <a:srgbClr val="E7B7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16952" y="4160520"/>
            <a:ext cx="807415" cy="320040"/>
          </a:xfrm>
          <a:prstGeom prst="line">
            <a:avLst/>
          </a:prstGeom>
          <a:ln w="20320">
            <a:solidFill>
              <a:srgbClr val="E7B7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703320" y="28529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전세금 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28529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보증금 반환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455371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차액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45262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선지급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806440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역전세(반환 &gt; 신규 전세금)면 부족분을 지갑 또는 담보 대출로 조달해 개설합니다.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8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이음 IEUM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WHY GIWA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243584"/>
            <a:ext cx="566928" cy="25603"/>
          </a:xfrm>
          <a:prstGeom prst="rect">
            <a:avLst/>
          </a:prstGeom>
          <a:solidFill>
            <a:srgbClr val="E7B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1647" y="5669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 spc="12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05</a:t>
            </a:r>
            <a:r>
              <a:rPr sz="1200" b="0" i="0" spc="12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6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목돈의 길을, 잇다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2847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4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ieum-protocol.vercel.app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463040"/>
            <a:ext cx="1050919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8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이음은 </a:t>
            </a:r>
            <a:r>
              <a:rPr sz="3800" b="1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GIWA에서만</a:t>
            </a:r>
            <a:r>
              <a:rPr sz="38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 완성된다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468880"/>
            <a:ext cx="5071719" cy="137160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272491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2807" y="2724912"/>
            <a:ext cx="3791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KRW 스테이블코인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2807" y="3127248"/>
            <a:ext cx="37915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mKRW를 실KRW로 교체하는 순간 = 실생활 전세·저축 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468880"/>
            <a:ext cx="5071719" cy="137160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272491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0287" y="2724912"/>
            <a:ext cx="3791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UP.ID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0287" y="3127248"/>
            <a:ext cx="37915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집주인·세입자 당사자 검증 + 계 완주 온체인 신용이력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160520"/>
            <a:ext cx="5071719" cy="137160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" y="441655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2807" y="4416552"/>
            <a:ext cx="3791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GIWA 월렛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92807" y="4818888"/>
            <a:ext cx="37915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'내 목돈을 지키는 탭'으로 인앱 탑재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8727" y="4160520"/>
            <a:ext cx="5071719" cy="137160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98767" y="441655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0287" y="4416552"/>
            <a:ext cx="3791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1초 블록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0287" y="4818888"/>
            <a:ext cx="37915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즉시 정산 UX — 기다림 없는 사용자 경험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8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이음 IEUM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PRODUCT FAMILY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243584"/>
            <a:ext cx="566928" cy="25603"/>
          </a:xfrm>
          <a:prstGeom prst="rect">
            <a:avLst/>
          </a:prstGeom>
          <a:solidFill>
            <a:srgbClr val="E7B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1647" y="5669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 spc="12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06</a:t>
            </a:r>
            <a:r>
              <a:rPr sz="1200" b="0" i="0" spc="12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6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목돈의 길을, 잇다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2847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4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ieum-protocol.vercel.app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463040"/>
            <a:ext cx="1050919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하나의 에스크로 프리미티브 → </a:t>
            </a:r>
            <a:r>
              <a:rPr sz="3400" b="1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세 제품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606040"/>
            <a:ext cx="10509199" cy="105156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07008" y="2935224"/>
            <a:ext cx="384048" cy="384048"/>
          </a:xfrm>
          <a:prstGeom prst="ellipse">
            <a:avLst/>
          </a:prstGeom>
          <a:noFill/>
          <a:ln w="17780">
            <a:solidFill>
              <a:srgbClr val="E7B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4248" y="280720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전세 에스크로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4248" y="3209544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원자적 정산으로 보증금 반환·잔금을 동시 확정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04527" y="2953512"/>
            <a:ext cx="1280160" cy="36576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E7B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메인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822191"/>
            <a:ext cx="10509199" cy="105156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07008" y="4151376"/>
            <a:ext cx="384048" cy="384048"/>
          </a:xfrm>
          <a:prstGeom prst="ellipse">
            <a:avLst/>
          </a:prstGeom>
          <a:noFill/>
          <a:ln w="17780">
            <a:solidFill>
              <a:srgbClr val="7A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7AC6F0"/>
                </a:solidFill>
                <a:latin typeface="Segoe UI"/>
                <a:ea typeface="Malgun Gothic"/>
                <a:cs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4248" y="4023359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이음 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4248" y="4425696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담보 대출 + 전세 브리지가 한 풀에서 도는 통합 머니마켓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04527" y="4169663"/>
            <a:ext cx="1280160" cy="36576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7A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7AC6F0"/>
                </a:solidFill>
                <a:latin typeface="Segoe UI"/>
                <a:ea typeface="Malgun Gothic"/>
                <a:cs typeface="Segoe UI"/>
              </a:rPr>
              <a:t>머니마켓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038344"/>
            <a:ext cx="10509199" cy="105156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07008" y="5367528"/>
            <a:ext cx="384048" cy="384048"/>
          </a:xfrm>
          <a:prstGeom prst="ellipse">
            <a:avLst/>
          </a:prstGeom>
          <a:noFill/>
          <a:ln w="17780">
            <a:solidFill>
              <a:srgbClr val="53C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53C68B"/>
                </a:solidFill>
                <a:latin typeface="Segoe UI"/>
                <a:ea typeface="Malgun Gothic"/>
                <a:cs typeface="Segoe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4248" y="5239512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계모임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84248" y="5641848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계주 없는 온체인 계 — 조작 불가 추첨 + 미납 슬래싱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04527" y="5385816"/>
            <a:ext cx="1280160" cy="36576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53C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53C68B"/>
                </a:solidFill>
                <a:latin typeface="Segoe UI"/>
                <a:ea typeface="Malgun Gothic"/>
                <a:cs typeface="Segoe UI"/>
              </a:rPr>
              <a:t>확장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8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이음 IEUM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243584"/>
            <a:ext cx="566928" cy="25603"/>
          </a:xfrm>
          <a:prstGeom prst="rect">
            <a:avLst/>
          </a:prstGeom>
          <a:solidFill>
            <a:srgbClr val="E7B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1647" y="5669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 spc="12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07</a:t>
            </a:r>
            <a:r>
              <a:rPr sz="1200" b="0" i="0" spc="12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6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목돈의 길을, 잇다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2847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4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ieum-protocol.vercel.app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554480"/>
            <a:ext cx="1050919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40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전세는 </a:t>
            </a:r>
            <a:r>
              <a:rPr sz="4000" b="1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한국</a:t>
            </a:r>
            <a:r>
              <a:rPr sz="40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, 계는 </a:t>
            </a:r>
            <a:r>
              <a:rPr sz="4000" b="1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전 세계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200400"/>
            <a:ext cx="5071719" cy="228600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35204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KR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84048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수백조 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75488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규모의 전세 보증금이 매년 이동.</a:t>
            </a:r>
            <a:r>
              <a:rPr sz="15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
한 건당 수천만 원의 TVL이 온체인으로.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3200400"/>
            <a:ext cx="5071719" cy="228600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5927" y="35204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GLOBAL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5927" y="384048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ROSCA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475488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계는 전 세계 현상 — 동남아 </a:t>
            </a:r>
            <a:r>
              <a:rPr sz="15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arisan</a:t>
            </a:r>
            <a:r>
              <a:rPr sz="15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, 중남미 </a:t>
            </a:r>
            <a:r>
              <a:rPr sz="15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tanda</a:t>
            </a:r>
            <a:r>
              <a:rPr sz="15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.
수출 가능한 프리미티브.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8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이음 IEUM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TRUST &amp;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243584"/>
            <a:ext cx="566928" cy="25603"/>
          </a:xfrm>
          <a:prstGeom prst="rect">
            <a:avLst/>
          </a:prstGeom>
          <a:solidFill>
            <a:srgbClr val="E7B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1647" y="5669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 spc="12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08</a:t>
            </a:r>
            <a:r>
              <a:rPr sz="1200" b="0" i="0" spc="12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6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목돈의 길을, 잇다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2847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4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ieum-protocol.vercel.app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417320"/>
            <a:ext cx="1050919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실자금을 다루는 팀의 태도를</a:t>
            </a:r>
          </a:p>
          <a:p>
            <a:pPr>
              <a:lnSpc>
                <a:spcPct val="105000"/>
              </a:lnSpc>
            </a:pPr>
            <a:r>
              <a:rPr sz="34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코드로 증명한다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20040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53C68B"/>
                </a:solidFill>
                <a:latin typeface="Segoe UI"/>
                <a:ea typeface="Malgun Gothic"/>
                <a:cs typeface="Segoe UI"/>
              </a:rPr>
              <a:t>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3310128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Foundry 테스트 전부 통과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096512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8" y="4206240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자가 감사로 치명 취약점 발견·수정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992624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7AC6F0"/>
                </a:solidFill>
                <a:latin typeface="Segoe UI"/>
                <a:ea typeface="Malgun Gothic"/>
                <a:cs typeface="Segoe U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04288" y="5102352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컨트랙트 GIWA 익스플로러 Verified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3108960"/>
            <a:ext cx="5071719" cy="278892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0207" y="336499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4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내장된 방어선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0207" y="384048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3C68B"/>
                </a:solidFill>
                <a:latin typeface="Segoe UI"/>
                <a:ea typeface="Malgun Gothic"/>
                <a:cs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5967" y="3822192"/>
            <a:ext cx="4065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위조 에스크로 드레인</a:t>
            </a:r>
            <a:r>
              <a:rPr sz="1200" b="0" i="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  ·  </a:t>
            </a:r>
            <a:r>
              <a:rPr sz="12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팩토리 화이트리스트로 차단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0207" y="435254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3C68B"/>
                </a:solidFill>
                <a:latin typeface="Segoe UI"/>
                <a:ea typeface="Malgun Gothic"/>
                <a:cs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5967" y="4334256"/>
            <a:ext cx="4065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추첨 그라인딩</a:t>
            </a:r>
            <a:r>
              <a:rPr sz="1200" b="0" i="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  ·  </a:t>
            </a:r>
            <a:r>
              <a:rPr sz="12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커밋–리빌 2단계 온체인 추첨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0207" y="486460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3C68B"/>
                </a:solidFill>
                <a:latin typeface="Segoe UI"/>
                <a:ea typeface="Malgun Gothic"/>
                <a:cs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5967" y="4846320"/>
            <a:ext cx="4065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오라클 급변 / 죽음의 나선</a:t>
            </a:r>
            <a:r>
              <a:rPr sz="1200" b="0" i="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  ·  </a:t>
            </a:r>
            <a:r>
              <a:rPr sz="12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서킷브레이커 ±20% + 긴급정지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0207" y="537667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3C68B"/>
                </a:solidFill>
                <a:latin typeface="Segoe UI"/>
                <a:ea typeface="Malgun Gothic"/>
                <a:cs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5967" y="5358384"/>
            <a:ext cx="4065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멈춘 오라클</a:t>
            </a:r>
            <a:r>
              <a:rPr sz="1200" b="0" i="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  ·  </a:t>
            </a:r>
            <a:r>
              <a:rPr sz="12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스테일 가드로 과다대출·부당청산 방지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8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이음 IEUM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TEAM &amp;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243584"/>
            <a:ext cx="566928" cy="25603"/>
          </a:xfrm>
          <a:prstGeom prst="rect">
            <a:avLst/>
          </a:prstGeom>
          <a:solidFill>
            <a:srgbClr val="E7B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1647" y="5669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 spc="12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09</a:t>
            </a:r>
            <a:r>
              <a:rPr sz="1200" b="0" i="0" spc="12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6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목돈의 길을, 잇다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2847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4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ieum-protocol.vercel.app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554480"/>
            <a:ext cx="1050919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40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1인 + </a:t>
            </a:r>
            <a:r>
              <a:rPr sz="4000" b="1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AI 네이티브 실행력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017520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아이디어 확정 → GIWA 테스트넷 배포·실사용 완주까지 </a:t>
            </a:r>
            <a:r>
              <a:rPr sz="190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【N】일</a:t>
            </a:r>
            <a:r>
              <a:rPr sz="1900" b="0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977639"/>
            <a:ext cx="2421559" cy="137160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206240"/>
            <a:ext cx="24215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956048"/>
            <a:ext cx="2147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동작하는 라이브 dApp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7127" y="3977639"/>
            <a:ext cx="2421559" cy="137160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7127" y="4206240"/>
            <a:ext cx="24215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4287" y="4956048"/>
            <a:ext cx="2147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Verified 컨트랙트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3977639"/>
            <a:ext cx="2421559" cy="137160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4206240"/>
            <a:ext cx="24215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4956048"/>
            <a:ext cx="2147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통과 테스트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8887" y="3977639"/>
            <a:ext cx="2421559" cy="137160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28887" y="4206240"/>
            <a:ext cx="24215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6047" y="4956048"/>
            <a:ext cx="2147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제품 (에스크로·Earn·계)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715000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【실명 · 역할 · 한 줄 이력】 — 말보다 배포된 컨트랙트로 증명합니다.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7B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8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이음 IEUM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961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THE 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243584"/>
            <a:ext cx="566928" cy="25603"/>
          </a:xfrm>
          <a:prstGeom prst="rect">
            <a:avLst/>
          </a:prstGeom>
          <a:solidFill>
            <a:srgbClr val="E7B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1647" y="5669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 spc="12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10</a:t>
            </a:r>
            <a:r>
              <a:rPr sz="1200" b="0" i="0" spc="12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54480"/>
            <a:ext cx="1050919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40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GASOK에 요청드립니다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2880360"/>
            <a:ext cx="384048" cy="384048"/>
          </a:xfrm>
          <a:prstGeom prst="ellipse">
            <a:avLst/>
          </a:prstGeom>
          <a:noFill/>
          <a:ln w="17780">
            <a:solidFill>
              <a:srgbClr val="E7B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85292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스마트 컨트랙트 외부 감사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3538728"/>
            <a:ext cx="384048" cy="384048"/>
          </a:xfrm>
          <a:prstGeom prst="ellipse">
            <a:avLst/>
          </a:prstGeom>
          <a:noFill/>
          <a:ln w="17780">
            <a:solidFill>
              <a:srgbClr val="E7B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511296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KRW 스테이블코인 조기 테스트 액세스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4197096"/>
            <a:ext cx="384048" cy="384048"/>
          </a:xfrm>
          <a:prstGeom prst="ellipse">
            <a:avLst/>
          </a:prstGeom>
          <a:noFill/>
          <a:ln w="17780">
            <a:solidFill>
              <a:srgbClr val="E7B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4169663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UP.ID 연동 기술 지원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4855464"/>
            <a:ext cx="384048" cy="384048"/>
          </a:xfrm>
          <a:prstGeom prst="ellipse">
            <a:avLst/>
          </a:prstGeom>
          <a:noFill/>
          <a:ln w="17780">
            <a:solidFill>
              <a:srgbClr val="E7B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4828031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GIWA 월렛 인앱 탑재 검토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5623560"/>
            <a:ext cx="10509199" cy="18288"/>
          </a:xfrm>
          <a:prstGeom prst="rect">
            <a:avLst/>
          </a:prstGeom>
          <a:solidFill>
            <a:srgbClr val="2C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8064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이음 · IEUM</a:t>
            </a:r>
            <a:r>
              <a:rPr sz="2000" b="1" i="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  —  목돈의 길을, 잇다.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8447" y="58521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ieum-protocol.vercel.app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